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259" r:id="rId5"/>
    <p:sldId id="303" r:id="rId6"/>
  </p:sldIdLst>
  <p:sldSz cx="12192000" cy="6858000"/>
  <p:notesSz cx="6807200" cy="9939338"/>
  <p:custDataLst>
    <p:tags r:id="rId9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1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4C4A40F-D0B2-039A-09B2-42FC15DDA6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AE8E1A3-8008-E249-3DC2-E919A0B99F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ED4D5-280B-4F4C-AA3D-93E353F13B43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A943EAC-6223-96A9-DC69-E8EEF26769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A5B010-37B5-7F84-6DCD-3E7AF17289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B56069-F322-48DD-AF46-74AB866847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9002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26C69-2D82-4559-8BC9-D78F3AF96B1D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7814F-7D4D-459F-A9E7-015F212355C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16337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BA002C-AD8A-86E2-8335-A31A1CFCA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58" y="1304518"/>
            <a:ext cx="6400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4F0397-3ED5-E266-FA5D-B5A7BD7D9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473" y="4359682"/>
            <a:ext cx="5245768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pic>
        <p:nvPicPr>
          <p:cNvPr id="9" name="Image 8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B4CFA508-19A9-51D2-4DDE-4EDF095BD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60" y="182824"/>
            <a:ext cx="3979327" cy="73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47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705" y="239817"/>
            <a:ext cx="7122695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C4558B-CD0F-E267-6ACA-2668D4B70222}"/>
              </a:ext>
            </a:extLst>
          </p:cNvPr>
          <p:cNvSpPr/>
          <p:nvPr userDrawn="1"/>
        </p:nvSpPr>
        <p:spPr>
          <a:xfrm>
            <a:off x="574325" y="1862951"/>
            <a:ext cx="8969828" cy="389825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F5F0676-792A-D96C-629F-CC0C289A24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3540" y="4893391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 dirty="0"/>
              <a:t>N°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9AF01875-A481-C7C6-C1CA-71ACBCFE43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3873" y="2953007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 dirty="0"/>
              <a:t>N°</a:t>
            </a:r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EEFBE549-6258-39D5-088D-8B9928B0CD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3540" y="3612195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 dirty="0"/>
              <a:t>N°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315A1DE-D951-DCD8-4D72-79E1A2414E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3873" y="4252793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 dirty="0"/>
              <a:t>N°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05A65FAA-D1C5-0365-D638-FDBEA0D83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3540" y="2294655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 dirty="0"/>
              <a:t>N°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107CD2F-525B-1FE8-918D-ED052816BB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41153" y="2294655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 dirty="0"/>
              <a:t>Item 1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EF0E012C-6417-AAE3-F24C-AF6898F34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41153" y="2953007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 dirty="0"/>
              <a:t>Item 2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C8A3EC0A-B3FF-D9D0-F3DA-8E201624C7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41153" y="3617645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 dirty="0"/>
              <a:t>Item 3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2D3B7AC3-221C-9E38-86BE-6F2FC36359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41153" y="4252792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 dirty="0"/>
              <a:t>Item 4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2EBB6C2F-C623-E538-3E8C-CAE6F3B800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41153" y="4947888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 dirty="0"/>
              <a:t>Item 5</a:t>
            </a:r>
          </a:p>
        </p:txBody>
      </p:sp>
      <p:pic>
        <p:nvPicPr>
          <p:cNvPr id="22" name="Image 21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02BDB155-3AA2-9725-B2ED-3BCC75CBFB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7" y="6281654"/>
            <a:ext cx="2188468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de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705" y="173142"/>
            <a:ext cx="7122695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C4558B-CD0F-E267-6ACA-2668D4B70222}"/>
              </a:ext>
            </a:extLst>
          </p:cNvPr>
          <p:cNvSpPr/>
          <p:nvPr userDrawn="1"/>
        </p:nvSpPr>
        <p:spPr>
          <a:xfrm>
            <a:off x="574325" y="1714500"/>
            <a:ext cx="8969828" cy="42767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107CD2F-525B-1FE8-918D-ED052816BB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08711" y="1949554"/>
            <a:ext cx="6753224" cy="3841645"/>
          </a:xfr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buFont typeface="+mj-lt"/>
              <a:buAutoNum type="arabicPeriod"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 dirty="0"/>
              <a:t>Item 1</a:t>
            </a:r>
          </a:p>
          <a:p>
            <a:pPr lvl="0"/>
            <a:r>
              <a:rPr lang="fr-FR" dirty="0"/>
              <a:t>Item 2</a:t>
            </a:r>
          </a:p>
          <a:p>
            <a:pPr lvl="0"/>
            <a:r>
              <a:rPr lang="fr-FR" dirty="0"/>
              <a:t>Item 3</a:t>
            </a:r>
          </a:p>
          <a:p>
            <a:pPr lvl="0"/>
            <a:r>
              <a:rPr lang="fr-FR" dirty="0"/>
              <a:t>Item 4</a:t>
            </a:r>
          </a:p>
          <a:p>
            <a:pPr lvl="0"/>
            <a:r>
              <a:rPr lang="fr-FR" dirty="0"/>
              <a:t>Item 5</a:t>
            </a:r>
          </a:p>
          <a:p>
            <a:pPr lvl="0"/>
            <a:r>
              <a:rPr lang="fr-FR" dirty="0"/>
              <a:t>Item 6</a:t>
            </a:r>
          </a:p>
          <a:p>
            <a:pPr lvl="0"/>
            <a:endParaRPr lang="fr-FR" dirty="0"/>
          </a:p>
        </p:txBody>
      </p:sp>
      <p:pic>
        <p:nvPicPr>
          <p:cNvPr id="22" name="Image 21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02BDB155-3AA2-9725-B2ED-3BCC75CBFB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7" y="6281654"/>
            <a:ext cx="2188468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1DD7E7-E79A-8C5C-8331-2046B2F5C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7" y="1354908"/>
            <a:ext cx="7106653" cy="23134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9E8AF3-7B5F-521C-CA46-E85DD5B63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6747" y="3888115"/>
            <a:ext cx="7106653" cy="1091741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accent3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3CA6F4-F185-D060-B451-510F9407D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4D5C66-1470-29B2-A701-517B4670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0" name="Image 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CB529039-B5A9-BF01-BBB9-6A050AC4A4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0" y="232594"/>
            <a:ext cx="2188468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22FE1B-A88E-EA42-9E26-6F5DB0CC2EA8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1907F0-B280-693D-F8CE-E4BAC559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F9A4E2-4CD9-F0BF-3192-9E64E7FA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A27A7-4EAA-A1AA-DFCE-495E95914BF5}"/>
              </a:ext>
            </a:extLst>
          </p:cNvPr>
          <p:cNvSpPr/>
          <p:nvPr userDrawn="1"/>
        </p:nvSpPr>
        <p:spPr>
          <a:xfrm>
            <a:off x="0" y="0"/>
            <a:ext cx="12192000" cy="1459832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44A5A1-ED5D-F3C3-23FD-742C89E50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831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8" name="Image 7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250F8296-1D28-6C6F-C6BA-603EB89279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7" y="6351252"/>
            <a:ext cx="2188468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7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A85B1F-85C8-CF47-D416-00B4DC8A7FAA}"/>
              </a:ext>
            </a:extLst>
          </p:cNvPr>
          <p:cNvSpPr/>
          <p:nvPr userDrawn="1"/>
        </p:nvSpPr>
        <p:spPr>
          <a:xfrm>
            <a:off x="0" y="0"/>
            <a:ext cx="12192000" cy="1459832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C68B4D-7B4F-1F56-36FA-19A118C1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52831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E3670E-EE5F-7A03-1BF6-966F8D95E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C044B7-FA69-AB20-2BFF-000368A5C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0B616CF-B652-33BF-9DFB-64728645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84D78C3-48E0-4333-4B79-5DD9563F5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EACB2E8-E1C6-2D68-18C7-71A69CFE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7EFFDB-70BB-1D89-E6A3-645E96FA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2" name="Image 11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04CA9A8A-1BB5-C5F9-3DBF-55708A6CBA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7" y="6351252"/>
            <a:ext cx="2188468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8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Worldmap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737" y="0"/>
            <a:ext cx="7780422" cy="1058779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6" name="Image 5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2D00B0E3-A10D-D1BA-07A3-5DB7F49F2A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0" y="168426"/>
            <a:ext cx="2188468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27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phic / Swo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EB29FD-DFF4-EA16-F778-5A465C8400C2}"/>
              </a:ext>
            </a:extLst>
          </p:cNvPr>
          <p:cNvSpPr/>
          <p:nvPr userDrawn="1"/>
        </p:nvSpPr>
        <p:spPr>
          <a:xfrm>
            <a:off x="0" y="0"/>
            <a:ext cx="12192000" cy="1459832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74" y="273524"/>
            <a:ext cx="9188116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8" name="Image 7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A601371F-3D81-1DCF-75CF-D2F038365E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7" y="6351252"/>
            <a:ext cx="2188468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2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present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EB29FD-DFF4-EA16-F778-5A465C8400C2}"/>
              </a:ext>
            </a:extLst>
          </p:cNvPr>
          <p:cNvSpPr/>
          <p:nvPr userDrawn="1"/>
        </p:nvSpPr>
        <p:spPr>
          <a:xfrm>
            <a:off x="0" y="0"/>
            <a:ext cx="12192000" cy="1459832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B690AD54-7564-0FBC-82D4-8EA890833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737" y="2999874"/>
            <a:ext cx="2005263" cy="303195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C7C47B8-BB0F-CB99-CE6D-6A02A41961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5832" y="2999874"/>
            <a:ext cx="2005263" cy="303195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98F4D228-7221-873D-7DA2-60108FDAEB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48927" y="2999874"/>
            <a:ext cx="2005263" cy="303195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DAEF71BB-6F34-A78C-429B-97B95F0474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52284" y="2999874"/>
            <a:ext cx="2005263" cy="303195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11" name="Image 10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F3B698BC-D847-B799-1060-6ACAEFA309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7" y="6420518"/>
            <a:ext cx="2005263" cy="36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55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13F6AD-56DB-99B7-64A4-863258D8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79C0E8-0F03-3E07-9CE8-A848FDB1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5" name="Image 4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6095EF71-2B15-D352-02E0-0C54BCFB1A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0" y="232594"/>
            <a:ext cx="2188468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73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13F6AD-56DB-99B7-64A4-863258D8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79C0E8-0F03-3E07-9CE8-A848FDB1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4117" y="635634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5" name="Image 4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6095EF71-2B15-D352-02E0-0C54BCFB1A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7" y="6319137"/>
            <a:ext cx="2188468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45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_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8CC1630-E8BD-7C32-872D-FF2F1B5BE5DD}"/>
              </a:ext>
            </a:extLst>
          </p:cNvPr>
          <p:cNvSpPr/>
          <p:nvPr userDrawn="1"/>
        </p:nvSpPr>
        <p:spPr>
          <a:xfrm>
            <a:off x="-16042" y="0"/>
            <a:ext cx="2743201" cy="6858000"/>
          </a:xfrm>
          <a:prstGeom prst="rect">
            <a:avLst/>
          </a:prstGeo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blipFill dpi="0"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F11516A-0CA2-383B-FA23-F250DC7D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58" y="393700"/>
            <a:ext cx="7040292" cy="720725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9C3035-3B99-AF2F-3857-B0A18AF57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158" y="1762125"/>
            <a:ext cx="8164242" cy="4341812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0D04C0-F272-6FA2-B99E-F177584FB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D8EFFF-9945-C878-5A30-86F60022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97A0FB9-41EC-E201-355C-32E409CF4EF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83" y="6402809"/>
            <a:ext cx="2032931" cy="38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945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55E944-03DD-4C80-71A9-FF5F5F2B4DE8}"/>
              </a:ext>
            </a:extLst>
          </p:cNvPr>
          <p:cNvSpPr/>
          <p:nvPr userDrawn="1"/>
        </p:nvSpPr>
        <p:spPr>
          <a:xfrm>
            <a:off x="-16042" y="0"/>
            <a:ext cx="2743201" cy="6858000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4549D8-333F-A13A-D41C-C440985DD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21" y="457200"/>
            <a:ext cx="2454443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E3363C6-B066-C62B-79BA-20AA4A354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04619" y="9921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C84A64-67DD-7B9D-D23E-A6051725B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0421" y="2301081"/>
            <a:ext cx="2454443" cy="381158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28BA856-0295-35F9-D9FD-B014ACD1E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18D470-679A-318D-EA3F-C9CC8B09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9" name="Image 8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780A6DBB-3979-94A8-29A3-35C8E2912C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7" y="6351252"/>
            <a:ext cx="2188468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28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9910" y="481263"/>
            <a:ext cx="8297780" cy="1187116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dirty="0" err="1"/>
              <a:t>Thank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message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75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A5100AE-120C-893D-C577-C61DF183D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9B272B-73B6-04AB-54DF-040227973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64D6D9-17AB-BE16-6762-9ED451AFB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3735F9-AC65-36E2-0A0F-E7C78BE0D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6242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305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0" r:id="rId2"/>
    <p:sldLayoutId id="2147483682" r:id="rId3"/>
    <p:sldLayoutId id="2147483678" r:id="rId4"/>
    <p:sldLayoutId id="2147483662" r:id="rId5"/>
    <p:sldLayoutId id="2147483665" r:id="rId6"/>
    <p:sldLayoutId id="2147483672" r:id="rId7"/>
    <p:sldLayoutId id="2147483674" r:id="rId8"/>
    <p:sldLayoutId id="2147483676" r:id="rId9"/>
    <p:sldLayoutId id="2147483667" r:id="rId10"/>
    <p:sldLayoutId id="2147483681" r:id="rId11"/>
    <p:sldLayoutId id="2147483668" r:id="rId12"/>
    <p:sldLayoutId id="2147483669" r:id="rId13"/>
    <p:sldLayoutId id="2147483677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25047%20643%2033%20CCL%20micrographic%20analysis%20test%20sieving%20cu%20+%20abrasive.pptx" TargetMode="External"/><Relationship Id="rId2" Type="http://schemas.openxmlformats.org/officeDocument/2006/relationships/hyperlink" Target="23079%20643%2033%20CCL%20micrographic%20analysis%20micrographs%20x100.pptx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25054%20643%2033%20CCL%20Plan%20C&amp;D%20micrographic%20analysis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2B547-67A0-D7B3-FBC4-E70ADDF80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123" y="1791424"/>
            <a:ext cx="6640945" cy="660972"/>
          </a:xfrm>
        </p:spPr>
        <p:txBody>
          <a:bodyPr>
            <a:normAutofit fontScale="90000"/>
          </a:bodyPr>
          <a:lstStyle/>
          <a:p>
            <a:r>
              <a:rPr lang="fr-FR" sz="2400" dirty="0"/>
              <a:t>Micrographies nuance métallique 646 33  :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581564B-2DE9-F979-04D7-841822763BF6}"/>
              </a:ext>
            </a:extLst>
          </p:cNvPr>
          <p:cNvSpPr txBox="1"/>
          <p:nvPr/>
        </p:nvSpPr>
        <p:spPr>
          <a:xfrm>
            <a:off x="3563596" y="6443529"/>
            <a:ext cx="2418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dirty="0">
                <a:cs typeface="Mada Medium"/>
              </a:rPr>
              <a:t>R&amp;D – YP – 29/01/2026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9966DC2-97C7-6EC4-ED5A-6FAD2D087266}"/>
              </a:ext>
            </a:extLst>
          </p:cNvPr>
          <p:cNvSpPr txBox="1"/>
          <p:nvPr/>
        </p:nvSpPr>
        <p:spPr>
          <a:xfrm>
            <a:off x="243123" y="2603602"/>
            <a:ext cx="5568018" cy="224676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Tx/>
              <a:buChar char="-"/>
            </a:pPr>
            <a:r>
              <a:rPr lang="fr-FR" sz="2000" dirty="0">
                <a:solidFill>
                  <a:srgbClr val="0070C0"/>
                </a:solidFill>
              </a:rPr>
              <a:t>Micrographies multiples réalisés sur balais </a:t>
            </a:r>
          </a:p>
          <a:p>
            <a:pPr algn="ctr"/>
            <a:r>
              <a:rPr lang="fr-FR" sz="2000" dirty="0">
                <a:solidFill>
                  <a:srgbClr val="0070C0"/>
                </a:solidFill>
              </a:rPr>
              <a:t> suite à 3 demandes d’expertise </a:t>
            </a:r>
          </a:p>
          <a:p>
            <a:pPr marL="342900" indent="-342900" algn="ctr">
              <a:buFontTx/>
              <a:buChar char="-"/>
            </a:pPr>
            <a:r>
              <a:rPr lang="fr-FR" sz="2000" dirty="0" err="1">
                <a:solidFill>
                  <a:srgbClr val="0070C0"/>
                </a:solidFill>
              </a:rPr>
              <a:t>Exp</a:t>
            </a:r>
            <a:r>
              <a:rPr lang="fr-FR" sz="2000" dirty="0">
                <a:solidFill>
                  <a:srgbClr val="0070C0"/>
                </a:solidFill>
              </a:rPr>
              <a:t> 23 079</a:t>
            </a:r>
          </a:p>
          <a:p>
            <a:pPr marL="342900" indent="-342900" algn="ctr">
              <a:buFontTx/>
              <a:buChar char="-"/>
            </a:pPr>
            <a:r>
              <a:rPr lang="fr-FR" sz="2000" dirty="0" err="1">
                <a:solidFill>
                  <a:srgbClr val="0070C0"/>
                </a:solidFill>
              </a:rPr>
              <a:t>Exp</a:t>
            </a:r>
            <a:r>
              <a:rPr lang="fr-FR" sz="2000" dirty="0">
                <a:solidFill>
                  <a:srgbClr val="0070C0"/>
                </a:solidFill>
              </a:rPr>
              <a:t> 25 047 </a:t>
            </a:r>
          </a:p>
          <a:p>
            <a:pPr marL="342900" indent="-342900" algn="ctr">
              <a:buFontTx/>
              <a:buChar char="-"/>
            </a:pPr>
            <a:r>
              <a:rPr lang="fr-FR" sz="2000" dirty="0" err="1">
                <a:solidFill>
                  <a:srgbClr val="0070C0"/>
                </a:solidFill>
              </a:rPr>
              <a:t>Exp</a:t>
            </a:r>
            <a:r>
              <a:rPr lang="fr-FR" sz="2000" dirty="0">
                <a:solidFill>
                  <a:srgbClr val="0070C0"/>
                </a:solidFill>
              </a:rPr>
              <a:t> 25 054</a:t>
            </a:r>
          </a:p>
          <a:p>
            <a:pPr algn="ctr"/>
            <a:endParaRPr lang="fr-FR" sz="2000" dirty="0">
              <a:solidFill>
                <a:srgbClr val="0070C0"/>
              </a:solidFill>
            </a:endParaRPr>
          </a:p>
          <a:p>
            <a:pPr algn="ctr"/>
            <a:r>
              <a:rPr lang="fr-FR" sz="2000" dirty="0">
                <a:solidFill>
                  <a:srgbClr val="0070C0"/>
                </a:solidFill>
              </a:rPr>
              <a:t> - Grossissement x 100 et x 200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728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8BDF1-E8F2-F1D9-2EB9-A2B9C8B8C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1A0C6EB-D2CF-8A89-69D2-DA974AC64992}"/>
              </a:ext>
            </a:extLst>
          </p:cNvPr>
          <p:cNvSpPr txBox="1"/>
          <p:nvPr/>
        </p:nvSpPr>
        <p:spPr>
          <a:xfrm>
            <a:off x="524479" y="1100146"/>
            <a:ext cx="11143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solidFill>
                <a:srgbClr val="00B0F0"/>
              </a:solidFill>
            </a:endParaRPr>
          </a:p>
          <a:p>
            <a:endParaRPr lang="en-US" sz="1600" dirty="0"/>
          </a:p>
          <a:p>
            <a:endParaRPr lang="fr-FR" sz="2000" dirty="0"/>
          </a:p>
          <a:p>
            <a:endParaRPr lang="fr-FR" sz="2000" dirty="0">
              <a:solidFill>
                <a:srgbClr val="0070C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EE180AC-F2D9-1296-52B3-15F9642B995C}"/>
              </a:ext>
            </a:extLst>
          </p:cNvPr>
          <p:cNvSpPr txBox="1"/>
          <p:nvPr/>
        </p:nvSpPr>
        <p:spPr>
          <a:xfrm>
            <a:off x="2560320" y="168405"/>
            <a:ext cx="7680960" cy="4443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250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Nuance 646 33</a:t>
            </a:r>
            <a:endParaRPr lang="fr-FR" sz="1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4608D6E-C834-796B-A549-1E134651B002}"/>
              </a:ext>
            </a:extLst>
          </p:cNvPr>
          <p:cNvSpPr txBox="1"/>
          <p:nvPr/>
        </p:nvSpPr>
        <p:spPr>
          <a:xfrm>
            <a:off x="453420" y="2742546"/>
            <a:ext cx="1065871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Commentaires</a:t>
            </a:r>
            <a:r>
              <a:rPr lang="fr-FR" dirty="0"/>
              <a:t> :</a:t>
            </a:r>
          </a:p>
          <a:p>
            <a:endParaRPr lang="fr-FR" dirty="0"/>
          </a:p>
          <a:p>
            <a:r>
              <a:rPr lang="fr-FR" sz="1400" dirty="0"/>
              <a:t>Examen réalisé sur coupe parallèle à la direction de compression. </a:t>
            </a:r>
          </a:p>
          <a:p>
            <a:r>
              <a:rPr lang="fr-FR" sz="1400" dirty="0"/>
              <a:t>Préparation et enrobage dans résine Epoxy.</a:t>
            </a:r>
          </a:p>
          <a:p>
            <a:r>
              <a:rPr lang="fr-FR" sz="1400" dirty="0"/>
              <a:t>2 grossissements  : x 100 ( échelle 100 µm ) - x 200 ( échelle 100 µm )</a:t>
            </a:r>
          </a:p>
          <a:p>
            <a:endParaRPr lang="fr-FR" sz="1400" dirty="0"/>
          </a:p>
          <a:p>
            <a:endParaRPr lang="fr-FR" sz="1400" dirty="0"/>
          </a:p>
          <a:p>
            <a:endParaRPr lang="fr-FR" sz="1400" dirty="0"/>
          </a:p>
          <a:p>
            <a:endParaRPr lang="fr-FR" sz="1400" dirty="0"/>
          </a:p>
          <a:p>
            <a:endParaRPr lang="fr-FR" sz="1400" dirty="0"/>
          </a:p>
          <a:p>
            <a:r>
              <a:rPr lang="fr-FR" sz="1400" dirty="0"/>
              <a:t> </a:t>
            </a:r>
          </a:p>
          <a:p>
            <a:endParaRPr lang="fr-FR" sz="1400" dirty="0"/>
          </a:p>
          <a:p>
            <a:endParaRPr lang="fr-FR" sz="1400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F40AF99-4F43-511E-47C3-42C9343973FD}"/>
              </a:ext>
            </a:extLst>
          </p:cNvPr>
          <p:cNvSpPr txBox="1"/>
          <p:nvPr/>
        </p:nvSpPr>
        <p:spPr>
          <a:xfrm>
            <a:off x="524479" y="702641"/>
            <a:ext cx="9735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Composition</a:t>
            </a:r>
            <a:r>
              <a:rPr lang="fr-FR" dirty="0"/>
              <a:t> : ( en % massique )</a:t>
            </a:r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AF0E9C9-F3D0-43A2-2968-7D61D87BF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938306"/>
              </p:ext>
            </p:extLst>
          </p:nvPr>
        </p:nvGraphicFramePr>
        <p:xfrm>
          <a:off x="505671" y="1164306"/>
          <a:ext cx="10658718" cy="1376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9746">
                  <a:extLst>
                    <a:ext uri="{9D8B030D-6E8A-4147-A177-3AD203B41FA5}">
                      <a16:colId xmlns:a16="http://schemas.microsoft.com/office/drawing/2014/main" val="1219741422"/>
                    </a:ext>
                  </a:extLst>
                </a:gridCol>
                <a:gridCol w="4546066">
                  <a:extLst>
                    <a:ext uri="{9D8B030D-6E8A-4147-A177-3AD203B41FA5}">
                      <a16:colId xmlns:a16="http://schemas.microsoft.com/office/drawing/2014/main" val="2539143930"/>
                    </a:ext>
                  </a:extLst>
                </a:gridCol>
                <a:gridCol w="1184302">
                  <a:extLst>
                    <a:ext uri="{9D8B030D-6E8A-4147-A177-3AD203B41FA5}">
                      <a16:colId xmlns:a16="http://schemas.microsoft.com/office/drawing/2014/main" val="2851692064"/>
                    </a:ext>
                  </a:extLst>
                </a:gridCol>
                <a:gridCol w="1184302">
                  <a:extLst>
                    <a:ext uri="{9D8B030D-6E8A-4147-A177-3AD203B41FA5}">
                      <a16:colId xmlns:a16="http://schemas.microsoft.com/office/drawing/2014/main" val="861848198"/>
                    </a:ext>
                  </a:extLst>
                </a:gridCol>
                <a:gridCol w="1184302">
                  <a:extLst>
                    <a:ext uri="{9D8B030D-6E8A-4147-A177-3AD203B41FA5}">
                      <a16:colId xmlns:a16="http://schemas.microsoft.com/office/drawing/2014/main" val="2508006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Cuivre Electrolytique </a:t>
                      </a:r>
                    </a:p>
                    <a:p>
                      <a:pPr algn="ctr"/>
                      <a:r>
                        <a:rPr lang="fr-FR" sz="1400" dirty="0"/>
                        <a:t>moyen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Black mix 016 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SiO2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Feldspath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Fe2O3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22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i="1" dirty="0"/>
                        <a:t>Graphite naturel GP 99,5-99,9/ 91 + résine phénolique / 9</a:t>
                      </a:r>
                    </a:p>
                    <a:p>
                      <a:pPr algn="ctr"/>
                      <a:r>
                        <a:rPr lang="fr-FR" sz="1200" i="1" dirty="0"/>
                        <a:t>Sélection granulométrique 0 – 500 µm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7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57,0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41,5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1,25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0,125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0,125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954819"/>
                  </a:ext>
                </a:extLst>
              </a:tr>
            </a:tbl>
          </a:graphicData>
        </a:graphic>
      </p:graphicFrame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FBC1E3E-D212-DC2F-9B4C-69A19246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2</a:t>
            </a:fld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E8E84282-C75F-9D4C-69C2-F2FB1155D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038125"/>
              </p:ext>
            </p:extLst>
          </p:nvPr>
        </p:nvGraphicFramePr>
        <p:xfrm>
          <a:off x="524478" y="4228225"/>
          <a:ext cx="8470128" cy="1738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7532">
                  <a:extLst>
                    <a:ext uri="{9D8B030D-6E8A-4147-A177-3AD203B41FA5}">
                      <a16:colId xmlns:a16="http://schemas.microsoft.com/office/drawing/2014/main" val="4118904793"/>
                    </a:ext>
                  </a:extLst>
                </a:gridCol>
                <a:gridCol w="2117532">
                  <a:extLst>
                    <a:ext uri="{9D8B030D-6E8A-4147-A177-3AD203B41FA5}">
                      <a16:colId xmlns:a16="http://schemas.microsoft.com/office/drawing/2014/main" val="3348775394"/>
                    </a:ext>
                  </a:extLst>
                </a:gridCol>
                <a:gridCol w="2117532">
                  <a:extLst>
                    <a:ext uri="{9D8B030D-6E8A-4147-A177-3AD203B41FA5}">
                      <a16:colId xmlns:a16="http://schemas.microsoft.com/office/drawing/2014/main" val="720931602"/>
                    </a:ext>
                  </a:extLst>
                </a:gridCol>
                <a:gridCol w="2117532">
                  <a:extLst>
                    <a:ext uri="{9D8B030D-6E8A-4147-A177-3AD203B41FA5}">
                      <a16:colId xmlns:a16="http://schemas.microsoft.com/office/drawing/2014/main" val="2707019039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Nombre micrographies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Exp</a:t>
                      </a:r>
                      <a:r>
                        <a:rPr lang="fr-FR" sz="1400" dirty="0"/>
                        <a:t> 23 079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Exp</a:t>
                      </a:r>
                      <a:r>
                        <a:rPr lang="fr-FR" sz="1400" dirty="0"/>
                        <a:t> 25 047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Exp</a:t>
                      </a:r>
                      <a:r>
                        <a:rPr lang="fr-FR" sz="1400" dirty="0"/>
                        <a:t> 25 054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342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X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06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X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366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Rapport </a:t>
                      </a:r>
                      <a:r>
                        <a:rPr lang="fr-FR" sz="1400" dirty="0" err="1"/>
                        <a:t>Exp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hlinkClick r:id="rId2" action="ppaction://hlinkpres?slideindex=1&amp;slidetitle="/>
                        </a:rPr>
                        <a:t>23079 643 33 CCL </a:t>
                      </a:r>
                      <a:r>
                        <a:rPr lang="fr-FR" sz="1200" dirty="0" err="1">
                          <a:hlinkClick r:id="rId2" action="ppaction://hlinkpres?slideindex=1&amp;slidetitle="/>
                        </a:rPr>
                        <a:t>micrographic</a:t>
                      </a:r>
                      <a:r>
                        <a:rPr lang="fr-FR" sz="1200" dirty="0">
                          <a:hlinkClick r:id="rId2" action="ppaction://hlinkpres?slideindex=1&amp;slidetitle="/>
                        </a:rPr>
                        <a:t> </a:t>
                      </a:r>
                      <a:r>
                        <a:rPr lang="fr-FR" sz="1200" dirty="0" err="1">
                          <a:hlinkClick r:id="rId2" action="ppaction://hlinkpres?slideindex=1&amp;slidetitle="/>
                        </a:rPr>
                        <a:t>analysis</a:t>
                      </a:r>
                      <a:r>
                        <a:rPr lang="fr-FR" sz="1200" dirty="0">
                          <a:hlinkClick r:id="rId2" action="ppaction://hlinkpres?slideindex=1&amp;slidetitle="/>
                        </a:rPr>
                        <a:t> </a:t>
                      </a:r>
                      <a:r>
                        <a:rPr lang="fr-FR" sz="1200" dirty="0" err="1">
                          <a:hlinkClick r:id="rId2" action="ppaction://hlinkpres?slideindex=1&amp;slidetitle="/>
                        </a:rPr>
                        <a:t>micrographs</a:t>
                      </a:r>
                      <a:r>
                        <a:rPr lang="fr-FR" sz="1200" dirty="0">
                          <a:hlinkClick r:id="rId2" action="ppaction://hlinkpres?slideindex=1&amp;slidetitle="/>
                        </a:rPr>
                        <a:t> x100.pptx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hlinkClick r:id="rId3" action="ppaction://hlinkpres?slideindex=1&amp;slidetitle="/>
                        </a:rPr>
                        <a:t>25047 643 33 CCL </a:t>
                      </a:r>
                      <a:r>
                        <a:rPr lang="fr-FR" sz="1200" dirty="0" err="1">
                          <a:hlinkClick r:id="rId3" action="ppaction://hlinkpres?slideindex=1&amp;slidetitle="/>
                        </a:rPr>
                        <a:t>micrographic</a:t>
                      </a:r>
                      <a:r>
                        <a:rPr lang="fr-FR" sz="1200" dirty="0">
                          <a:hlinkClick r:id="rId3" action="ppaction://hlinkpres?slideindex=1&amp;slidetitle="/>
                        </a:rPr>
                        <a:t> </a:t>
                      </a:r>
                      <a:r>
                        <a:rPr lang="fr-FR" sz="1200" dirty="0" err="1">
                          <a:hlinkClick r:id="rId3" action="ppaction://hlinkpres?slideindex=1&amp;slidetitle="/>
                        </a:rPr>
                        <a:t>analysis</a:t>
                      </a:r>
                      <a:r>
                        <a:rPr lang="fr-FR" sz="1200" dirty="0">
                          <a:hlinkClick r:id="rId3" action="ppaction://hlinkpres?slideindex=1&amp;slidetitle="/>
                        </a:rPr>
                        <a:t> test </a:t>
                      </a:r>
                      <a:r>
                        <a:rPr lang="fr-FR" sz="1200" dirty="0" err="1">
                          <a:hlinkClick r:id="rId3" action="ppaction://hlinkpres?slideindex=1&amp;slidetitle="/>
                        </a:rPr>
                        <a:t>sieving</a:t>
                      </a:r>
                      <a:r>
                        <a:rPr lang="fr-FR" sz="1200" dirty="0">
                          <a:hlinkClick r:id="rId3" action="ppaction://hlinkpres?slideindex=1&amp;slidetitle="/>
                        </a:rPr>
                        <a:t> </a:t>
                      </a:r>
                      <a:r>
                        <a:rPr lang="fr-FR" sz="1200" dirty="0" err="1">
                          <a:hlinkClick r:id="rId3" action="ppaction://hlinkpres?slideindex=1&amp;slidetitle="/>
                        </a:rPr>
                        <a:t>cu</a:t>
                      </a:r>
                      <a:r>
                        <a:rPr lang="fr-FR" sz="1200" dirty="0">
                          <a:hlinkClick r:id="rId3" action="ppaction://hlinkpres?slideindex=1&amp;slidetitle="/>
                        </a:rPr>
                        <a:t> + abrasive.pptx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hlinkClick r:id="rId4" action="ppaction://hlinkpres?slideindex=1&amp;slidetitle="/>
                        </a:rPr>
                        <a:t>25054 643 33 CCL Plan C&amp;D </a:t>
                      </a:r>
                      <a:r>
                        <a:rPr lang="fr-FR" sz="1200" dirty="0" err="1">
                          <a:hlinkClick r:id="rId4" action="ppaction://hlinkpres?slideindex=1&amp;slidetitle="/>
                        </a:rPr>
                        <a:t>micrographic</a:t>
                      </a:r>
                      <a:r>
                        <a:rPr lang="fr-FR" sz="1200">
                          <a:hlinkClick r:id="rId4" action="ppaction://hlinkpres?slideindex=1&amp;slidetitle="/>
                        </a:rPr>
                        <a:t> analysis.pptx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65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32604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PROJECT_OPEN" val="0"/>
  <p:tag name="ARTICULATE_SLIDE_COUN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hème AVOCarbon">
  <a:themeElements>
    <a:clrScheme name="AVOCarbon">
      <a:dk1>
        <a:sysClr val="windowText" lastClr="000000"/>
      </a:dk1>
      <a:lt1>
        <a:sysClr val="window" lastClr="FFFFFF"/>
      </a:lt1>
      <a:dk2>
        <a:srgbClr val="0E4E78"/>
      </a:dk2>
      <a:lt2>
        <a:srgbClr val="E7E6E6"/>
      </a:lt2>
      <a:accent1>
        <a:srgbClr val="046EAF"/>
      </a:accent1>
      <a:accent2>
        <a:srgbClr val="EF7807"/>
      </a:accent2>
      <a:accent3>
        <a:srgbClr val="585858"/>
      </a:accent3>
      <a:accent4>
        <a:srgbClr val="C5C5C4"/>
      </a:accent4>
      <a:accent5>
        <a:srgbClr val="44546A"/>
      </a:accent5>
      <a:accent6>
        <a:srgbClr val="23C6D7"/>
      </a:accent6>
      <a:hlink>
        <a:srgbClr val="0563C1"/>
      </a:hlink>
      <a:folHlink>
        <a:srgbClr val="954F72"/>
      </a:folHlink>
    </a:clrScheme>
    <a:fontScheme name="AVOCarbon">
      <a:majorFont>
        <a:latin typeface="Montserrat SemiBold"/>
        <a:ea typeface=""/>
        <a:cs typeface=""/>
      </a:majorFont>
      <a:minorFont>
        <a:latin typeface="Hind Madur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A4E79604-DC0D-4C21-939D-020B10802697}" vid="{6D813526-D163-47B6-8E01-EDAD489E580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43ECCACD12664994127A2147214A5B" ma:contentTypeVersion="9" ma:contentTypeDescription="Create a new document." ma:contentTypeScope="" ma:versionID="153e3887467d094dc3578392b26fa3e9">
  <xsd:schema xmlns:xsd="http://www.w3.org/2001/XMLSchema" xmlns:xs="http://www.w3.org/2001/XMLSchema" xmlns:p="http://schemas.microsoft.com/office/2006/metadata/properties" xmlns:ns2="88e67724-b914-4ddb-a3ed-c03f4903171b" xmlns:ns3="6b7e61cc-f334-469d-aaaf-4a8f5ee00916" targetNamespace="http://schemas.microsoft.com/office/2006/metadata/properties" ma:root="true" ma:fieldsID="7146a8311a59ee30fef7121f39bfcbd2" ns2:_="" ns3:_="">
    <xsd:import namespace="88e67724-b914-4ddb-a3ed-c03f4903171b"/>
    <xsd:import namespace="6b7e61cc-f334-469d-aaaf-4a8f5ee009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e67724-b914-4ddb-a3ed-c03f490317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9498ac7-68cc-48ea-a29a-cd5022356a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7e61cc-f334-469d-aaaf-4a8f5ee00916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3470d2e-5f06-46f7-8ca3-a6823a438e20}" ma:internalName="TaxCatchAll" ma:showField="CatchAllData" ma:web="6b7e61cc-f334-469d-aaaf-4a8f5ee009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7e61cc-f334-469d-aaaf-4a8f5ee00916" xsi:nil="true"/>
    <lcf76f155ced4ddcb4097134ff3c332f xmlns="88e67724-b914-4ddb-a3ed-c03f4903171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6D47B9-8A59-4F30-AB2F-756675AAF4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75F9E9-8D10-413C-87C5-686D736D40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e67724-b914-4ddb-a3ed-c03f4903171b"/>
    <ds:schemaRef ds:uri="6b7e61cc-f334-469d-aaaf-4a8f5ee009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D74EBF6-0AA8-404B-930F-9978A48F1540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6b7e61cc-f334-469d-aaaf-4a8f5ee00916"/>
    <ds:schemaRef ds:uri="http://purl.org/dc/terms/"/>
    <ds:schemaRef ds:uri="http://schemas.openxmlformats.org/package/2006/metadata/core-properties"/>
    <ds:schemaRef ds:uri="88e67724-b914-4ddb-a3ed-c03f4903171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AVOCarbon group PPT model V3</Template>
  <TotalTime>3079</TotalTime>
  <Words>180</Words>
  <Application>Microsoft Office PowerPoint</Application>
  <PresentationFormat>Widescreen</PresentationFormat>
  <Paragraphs>55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Thème AVOCarbon</vt:lpstr>
      <vt:lpstr>Micrographies nuance métallique 646 33  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AVOCarbon TITLE</dc:title>
  <dc:creator>Karen PERROT</dc:creator>
  <cp:lastModifiedBy>Yannick PECOUL</cp:lastModifiedBy>
  <cp:revision>167</cp:revision>
  <cp:lastPrinted>2024-06-03T13:32:19Z</cp:lastPrinted>
  <dcterms:created xsi:type="dcterms:W3CDTF">2023-07-17T08:30:08Z</dcterms:created>
  <dcterms:modified xsi:type="dcterms:W3CDTF">2026-02-05T12:40:09Z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2303F357-0846-4434-A6AA-574B7640B36F</vt:lpwstr>
  </property>
  <property fmtid="{D5CDD505-2E9C-101B-9397-08002B2CF9AE}" pid="3" name="ArticulatePath">
    <vt:lpwstr>Présentation1</vt:lpwstr>
  </property>
  <property fmtid="{D5CDD505-2E9C-101B-9397-08002B2CF9AE}" pid="4" name="ContentTypeId">
    <vt:lpwstr>0x0101009543ECCACD12664994127A2147214A5B</vt:lpwstr>
  </property>
</Properties>
</file>